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ructure" id="{57de3ca9-964c-1a3d-d1e1-61a511c64559}">
          <p14:sldIdLst>
            <p14:sldId id="256"/>
          </p14:sldIdLst>
        </p14:section>
        <p14:section name="How it works" id="{49ab36bf-2504-52bd-43b0-d044f11be2c8}">
          <p14:sldIdLst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NKReview is built on the ErysReview interface. You start with a study: one or more image folders, how file names are read, and the measurement settings – or a template for the experiment type. Cellpose runs in the background while you go through the images: check the contours and the three background fields of each cell, discard or draw cells, mark the image as reviewed. The export writes one row per cell plus a summary per subject.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steps. The DAB pre-filter cuts out stained regions so Cellpose only works where there is signal – a sparse image takes seconds instead of a minute. Segmentation differs by target: whole NK cells are found on the colour image and their edge is redrawn from the optical density; C2C12 nuclei are found on the DAB map, where pale Ki67 nuclei are much clearer. The background I₀ is measured per cell from three fields next to it, with a fixed range for NK and a relative check for the C2C12 series, whose exposure varies.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value is the optical density of the mean grey value, exactly as the Fiji workflow computes it, with I₀ from three background fields next to the cell. For the NK test cell this gives 0.164. The pilot showed three things: the DAB map finds far more C2C12 nuclei than the colour image, the pre-filter makes Cellpose fast on sparse images, and a relative I₀ check keeps nearly every nucleus although exposure varies between series. Still open: the original Fiji macro, and Ki67-negative nuclei, which are invisible without a counterstain.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K Dark">
    <p:bg>
      <p:bgPr>
        <a:solidFill>
          <a:srgbClr val="14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9808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/Users/finndreisigacker/Desktop/Apps/NKReview/assets/icon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566928" cy="5669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4B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K 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9808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233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/Users/finndreisigacker/Desktop/Apps/NKReview/assets/icon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566928" cy="5669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4B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window from image to OD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NKReview · desktop app (Python · Qt · Cellpose-SAM) for the optical density of DAB-stained cells and nuclei</a:t>
            </a:r>
            <a:endParaRPr lang="en-US" sz="1200" dirty="0"/>
          </a:p>
        </p:txBody>
      </p:sp>
      <p:sp>
        <p:nvSpPr>
          <p:cNvPr id="4" name="screenshot frame"/>
          <p:cNvSpPr/>
          <p:nvPr/>
        </p:nvSpPr>
        <p:spPr>
          <a:xfrm>
            <a:off x="420624" y="1335024"/>
            <a:ext cx="5468112" cy="310781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main window screenshot" descr="NKReview main window: image list, C2C12 image with nucleus contours and I0 fields, cell 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394960" cy="3034665"/>
          </a:xfrm>
          <a:prstGeom prst="rect">
            <a:avLst/>
          </a:prstGeom>
        </p:spPr>
      </p:pic>
      <p:sp>
        <p:nvSpPr>
          <p:cNvPr id="6" name="callout 1"/>
          <p:cNvSpPr/>
          <p:nvPr/>
        </p:nvSpPr>
        <p:spPr>
          <a:xfrm>
            <a:off x="589788" y="1335596"/>
            <a:ext cx="274320" cy="274320"/>
          </a:xfrm>
          <a:prstGeom prst="ellipse">
            <a:avLst/>
          </a:prstGeom>
          <a:solidFill>
            <a:srgbClr val="B571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1 number"/>
          <p:cNvSpPr txBox="1"/>
          <p:nvPr/>
        </p:nvSpPr>
        <p:spPr>
          <a:xfrm>
            <a:off x="589788" y="13355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2"/>
          <p:cNvSpPr/>
          <p:nvPr/>
        </p:nvSpPr>
        <p:spPr>
          <a:xfrm>
            <a:off x="825818" y="1824514"/>
            <a:ext cx="274320" cy="274320"/>
          </a:xfrm>
          <a:prstGeom prst="ellipse">
            <a:avLst/>
          </a:prstGeom>
          <a:solidFill>
            <a:srgbClr val="B571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callout 2 number"/>
          <p:cNvSpPr txBox="1"/>
          <p:nvPr/>
        </p:nvSpPr>
        <p:spPr>
          <a:xfrm>
            <a:off x="825818" y="18245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callout 3"/>
          <p:cNvSpPr/>
          <p:nvPr/>
        </p:nvSpPr>
        <p:spPr>
          <a:xfrm>
            <a:off x="2747772" y="2785491"/>
            <a:ext cx="274320" cy="274320"/>
          </a:xfrm>
          <a:prstGeom prst="ellipse">
            <a:avLst/>
          </a:prstGeom>
          <a:solidFill>
            <a:srgbClr val="B571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callout 3 number"/>
          <p:cNvSpPr txBox="1"/>
          <p:nvPr/>
        </p:nvSpPr>
        <p:spPr>
          <a:xfrm>
            <a:off x="2747772" y="278549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callout 4"/>
          <p:cNvSpPr/>
          <p:nvPr/>
        </p:nvSpPr>
        <p:spPr>
          <a:xfrm>
            <a:off x="4939475" y="3324987"/>
            <a:ext cx="274320" cy="274320"/>
          </a:xfrm>
          <a:prstGeom prst="ellipse">
            <a:avLst/>
          </a:prstGeom>
          <a:solidFill>
            <a:srgbClr val="B571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4 number"/>
          <p:cNvSpPr txBox="1"/>
          <p:nvPr/>
        </p:nvSpPr>
        <p:spPr>
          <a:xfrm>
            <a:off x="4939475" y="332498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callout 5"/>
          <p:cNvSpPr/>
          <p:nvPr/>
        </p:nvSpPr>
        <p:spPr>
          <a:xfrm>
            <a:off x="5175504" y="1335596"/>
            <a:ext cx="274320" cy="274320"/>
          </a:xfrm>
          <a:prstGeom prst="ellipse">
            <a:avLst/>
          </a:prstGeom>
          <a:solidFill>
            <a:srgbClr val="B571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callout 5 number"/>
          <p:cNvSpPr txBox="1"/>
          <p:nvPr/>
        </p:nvSpPr>
        <p:spPr>
          <a:xfrm>
            <a:off x="5175504" y="13355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6" name="legend 1"/>
          <p:cNvSpPr/>
          <p:nvPr/>
        </p:nvSpPr>
        <p:spPr>
          <a:xfrm>
            <a:off x="6172200" y="1371600"/>
            <a:ext cx="274320" cy="274320"/>
          </a:xfrm>
          <a:prstGeom prst="ellipse">
            <a:avLst/>
          </a:prstGeom>
          <a:solidFill>
            <a:srgbClr val="B571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legend 1 number"/>
          <p:cNvSpPr txBox="1"/>
          <p:nvPr/>
        </p:nvSpPr>
        <p:spPr>
          <a:xfrm>
            <a:off x="617220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8" name="legend text 1"/>
          <p:cNvSpPr txBox="1"/>
          <p:nvPr/>
        </p:nvSpPr>
        <p:spPr>
          <a:xfrm>
            <a:off x="6556248" y="13533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Studies &amp; templates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Folders, file-name roles and measurement settings; templates per experiment type</a:t>
            </a:r>
            <a:endParaRPr lang="en-US" sz="1300" dirty="0"/>
          </a:p>
        </p:txBody>
      </p:sp>
      <p:sp>
        <p:nvSpPr>
          <p:cNvPr id="19" name="legend 2"/>
          <p:cNvSpPr/>
          <p:nvPr/>
        </p:nvSpPr>
        <p:spPr>
          <a:xfrm>
            <a:off x="6172200" y="1993392"/>
            <a:ext cx="274320" cy="274320"/>
          </a:xfrm>
          <a:prstGeom prst="ellipse">
            <a:avLst/>
          </a:prstGeom>
          <a:solidFill>
            <a:srgbClr val="B571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legend 2 number"/>
          <p:cNvSpPr txBox="1"/>
          <p:nvPr/>
        </p:nvSpPr>
        <p:spPr>
          <a:xfrm>
            <a:off x="6172200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legend text 2"/>
          <p:cNvSpPr txBox="1"/>
          <p:nvPr/>
        </p:nvSpPr>
        <p:spPr>
          <a:xfrm>
            <a:off x="6556248" y="197510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Image list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Grouped by timepoint · subject, filtered by marker; status from waiting to reviewed</a:t>
            </a:r>
            <a:endParaRPr lang="en-US" sz="1300" dirty="0"/>
          </a:p>
        </p:txBody>
      </p:sp>
      <p:sp>
        <p:nvSpPr>
          <p:cNvPr id="22" name="legend 3"/>
          <p:cNvSpPr/>
          <p:nvPr/>
        </p:nvSpPr>
        <p:spPr>
          <a:xfrm>
            <a:off x="6172200" y="2615184"/>
            <a:ext cx="274320" cy="274320"/>
          </a:xfrm>
          <a:prstGeom prst="ellipse">
            <a:avLst/>
          </a:prstGeom>
          <a:solidFill>
            <a:srgbClr val="B571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legend 3 number"/>
          <p:cNvSpPr txBox="1"/>
          <p:nvPr/>
        </p:nvSpPr>
        <p:spPr>
          <a:xfrm>
            <a:off x="617220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legend text 3"/>
          <p:cNvSpPr txBox="1"/>
          <p:nvPr/>
        </p:nvSpPr>
        <p:spPr>
          <a:xfrm>
            <a:off x="6556248" y="25968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Image view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Contours, the three I₀ fields per cell, OD per cell; draw or discard cells</a:t>
            </a:r>
            <a:endParaRPr lang="en-US" sz="1300" dirty="0"/>
          </a:p>
        </p:txBody>
      </p:sp>
      <p:sp>
        <p:nvSpPr>
          <p:cNvPr id="25" name="legend 4"/>
          <p:cNvSpPr/>
          <p:nvPr/>
        </p:nvSpPr>
        <p:spPr>
          <a:xfrm>
            <a:off x="6172200" y="3236976"/>
            <a:ext cx="274320" cy="274320"/>
          </a:xfrm>
          <a:prstGeom prst="ellipse">
            <a:avLst/>
          </a:prstGeom>
          <a:solidFill>
            <a:srgbClr val="B571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legend 4 number"/>
          <p:cNvSpPr txBox="1"/>
          <p:nvPr/>
        </p:nvSpPr>
        <p:spPr>
          <a:xfrm>
            <a:off x="617220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legend text 4"/>
          <p:cNvSpPr txBox="1"/>
          <p:nvPr/>
        </p:nvSpPr>
        <p:spPr>
          <a:xfrm>
            <a:off x="6556248" y="321868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Cell panel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OD (method), pixel-OD distribution, OD map and radial profile</a:t>
            </a:r>
            <a:endParaRPr lang="en-US" sz="1300" dirty="0"/>
          </a:p>
        </p:txBody>
      </p:sp>
      <p:sp>
        <p:nvSpPr>
          <p:cNvPr id="28" name="legend 5"/>
          <p:cNvSpPr/>
          <p:nvPr/>
        </p:nvSpPr>
        <p:spPr>
          <a:xfrm>
            <a:off x="6172200" y="3858768"/>
            <a:ext cx="274320" cy="274320"/>
          </a:xfrm>
          <a:prstGeom prst="ellipse">
            <a:avLst/>
          </a:prstGeom>
          <a:solidFill>
            <a:srgbClr val="B571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legend 5 number"/>
          <p:cNvSpPr txBox="1"/>
          <p:nvPr/>
        </p:nvSpPr>
        <p:spPr>
          <a:xfrm>
            <a:off x="6172200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legend text 5"/>
          <p:cNvSpPr txBox="1"/>
          <p:nvPr/>
        </p:nvSpPr>
        <p:spPr>
          <a:xfrm>
            <a:off x="6556248" y="38404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Toolbar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Tools, brightness &amp; contrast (display only), settings, help, export</a:t>
            </a:r>
            <a:endParaRPr lang="en-US" sz="1300" dirty="0"/>
          </a:p>
        </p:txBody>
      </p:sp>
      <p:sp>
        <p:nvSpPr>
          <p:cNvPr id="31" name="workflow line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8FF"/>
                </a:solidFill>
              </a:rPr>
              <a:t>Workflow:  study → Cellpose in the background → review image by image → export cells.csv / summary.csv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4B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image to OD per cell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457200" y="1097280"/>
            <a:ext cx="1261872" cy="1417320"/>
          </a:xfrm>
          <a:prstGeom prst="roundRect">
            <a:avLst>
              <a:gd name="adj" fmla="val 5797"/>
            </a:avLst>
          </a:prstGeom>
          <a:solidFill>
            <a:srgbClr val="EEF2F8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4" name="step 1 badge"/>
          <p:cNvSpPr/>
          <p:nvPr/>
        </p:nvSpPr>
        <p:spPr>
          <a:xfrm>
            <a:off x="566928" y="1207008"/>
            <a:ext cx="292608" cy="29260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tep 1 badge number"/>
          <p:cNvSpPr txBox="1"/>
          <p:nvPr/>
        </p:nvSpPr>
        <p:spPr>
          <a:xfrm>
            <a:off x="566928" y="1207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step 1 text"/>
          <p:cNvSpPr txBox="1"/>
          <p:nvPr/>
        </p:nvSpPr>
        <p:spPr>
          <a:xfrm>
            <a:off x="566928" y="1572768"/>
            <a:ext cx="1060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33F"/>
                </a:solidFill>
              </a:rPr>
              <a:t>Import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D475A"/>
                </a:solidFill>
              </a:rPr>
              <a:t>Study, folders, file-name roles</a:t>
            </a:r>
            <a:endParaRPr lang="en-US" sz="1200" dirty="0"/>
          </a:p>
        </p:txBody>
      </p:sp>
      <p:sp>
        <p:nvSpPr>
          <p:cNvPr id="7" name="arrow 1"/>
          <p:cNvSpPr/>
          <p:nvPr/>
        </p:nvSpPr>
        <p:spPr>
          <a:xfrm rot="5400000">
            <a:off x="1751076" y="1741932"/>
            <a:ext cx="91440" cy="128016"/>
          </a:xfrm>
          <a:prstGeom prst="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tep 2"/>
          <p:cNvSpPr/>
          <p:nvPr/>
        </p:nvSpPr>
        <p:spPr>
          <a:xfrm>
            <a:off x="1874520" y="1097280"/>
            <a:ext cx="1261872" cy="1417320"/>
          </a:xfrm>
          <a:prstGeom prst="roundRect">
            <a:avLst>
              <a:gd name="adj" fmla="val 5797"/>
            </a:avLst>
          </a:prstGeom>
          <a:solidFill>
            <a:srgbClr val="EEF2F8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9" name="step 2 badge"/>
          <p:cNvSpPr/>
          <p:nvPr/>
        </p:nvSpPr>
        <p:spPr>
          <a:xfrm>
            <a:off x="1984248" y="1207008"/>
            <a:ext cx="292608" cy="29260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tep 2 badge number"/>
          <p:cNvSpPr txBox="1"/>
          <p:nvPr/>
        </p:nvSpPr>
        <p:spPr>
          <a:xfrm>
            <a:off x="1984248" y="1207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ep 2 text"/>
          <p:cNvSpPr txBox="1"/>
          <p:nvPr/>
        </p:nvSpPr>
        <p:spPr>
          <a:xfrm>
            <a:off x="1984248" y="1572768"/>
            <a:ext cx="1060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33F"/>
                </a:solidFill>
              </a:rPr>
              <a:t>DAB pre-filter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D475A"/>
                </a:solidFill>
              </a:rPr>
              <a:t>H-DAB deconvolution; only stained regions</a:t>
            </a:r>
            <a:endParaRPr lang="en-US" sz="1200" dirty="0"/>
          </a:p>
        </p:txBody>
      </p:sp>
      <p:sp>
        <p:nvSpPr>
          <p:cNvPr id="12" name="arrow 2"/>
          <p:cNvSpPr/>
          <p:nvPr/>
        </p:nvSpPr>
        <p:spPr>
          <a:xfrm rot="5400000">
            <a:off x="3168396" y="1741932"/>
            <a:ext cx="91440" cy="128016"/>
          </a:xfrm>
          <a:prstGeom prst="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tep 3"/>
          <p:cNvSpPr/>
          <p:nvPr/>
        </p:nvSpPr>
        <p:spPr>
          <a:xfrm>
            <a:off x="3291840" y="1097280"/>
            <a:ext cx="1261872" cy="1417320"/>
          </a:xfrm>
          <a:prstGeom prst="roundRect">
            <a:avLst>
              <a:gd name="adj" fmla="val 5797"/>
            </a:avLst>
          </a:prstGeom>
          <a:solidFill>
            <a:srgbClr val="EEF2F8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4" name="step 3 badge"/>
          <p:cNvSpPr/>
          <p:nvPr/>
        </p:nvSpPr>
        <p:spPr>
          <a:xfrm>
            <a:off x="3401568" y="1207008"/>
            <a:ext cx="292608" cy="29260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tep 3 badge number"/>
          <p:cNvSpPr txBox="1"/>
          <p:nvPr/>
        </p:nvSpPr>
        <p:spPr>
          <a:xfrm>
            <a:off x="3401568" y="1207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step 3 text"/>
          <p:cNvSpPr txBox="1"/>
          <p:nvPr/>
        </p:nvSpPr>
        <p:spPr>
          <a:xfrm>
            <a:off x="3401568" y="1572768"/>
            <a:ext cx="1060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33F"/>
                </a:solidFill>
              </a:rPr>
              <a:t>Segmentation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D475A"/>
                </a:solidFill>
              </a:rPr>
              <a:t>Cellpose-SAM finds cells or nuclei</a:t>
            </a:r>
            <a:endParaRPr lang="en-US" sz="1200" dirty="0"/>
          </a:p>
        </p:txBody>
      </p:sp>
      <p:sp>
        <p:nvSpPr>
          <p:cNvPr id="17" name="arrow 3"/>
          <p:cNvSpPr/>
          <p:nvPr/>
        </p:nvSpPr>
        <p:spPr>
          <a:xfrm rot="5400000">
            <a:off x="4585716" y="1741932"/>
            <a:ext cx="91440" cy="128016"/>
          </a:xfrm>
          <a:prstGeom prst="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tep 4"/>
          <p:cNvSpPr/>
          <p:nvPr/>
        </p:nvSpPr>
        <p:spPr>
          <a:xfrm>
            <a:off x="4709160" y="1097280"/>
            <a:ext cx="1261872" cy="1417320"/>
          </a:xfrm>
          <a:prstGeom prst="roundRect">
            <a:avLst>
              <a:gd name="adj" fmla="val 5797"/>
            </a:avLst>
          </a:prstGeom>
          <a:solidFill>
            <a:srgbClr val="EEF2F8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9" name="step 4 badge"/>
          <p:cNvSpPr/>
          <p:nvPr/>
        </p:nvSpPr>
        <p:spPr>
          <a:xfrm>
            <a:off x="4818888" y="1207008"/>
            <a:ext cx="292608" cy="29260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tep 4 badge number"/>
          <p:cNvSpPr txBox="1"/>
          <p:nvPr/>
        </p:nvSpPr>
        <p:spPr>
          <a:xfrm>
            <a:off x="4818888" y="1207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step 4 text"/>
          <p:cNvSpPr txBox="1"/>
          <p:nvPr/>
        </p:nvSpPr>
        <p:spPr>
          <a:xfrm>
            <a:off x="4818888" y="1572768"/>
            <a:ext cx="1060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33F"/>
                </a:solidFill>
              </a:rPr>
              <a:t>Background I₀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D475A"/>
                </a:solidFill>
              </a:rPr>
              <a:t>3 random 9 × 9 px fields per cell</a:t>
            </a:r>
            <a:endParaRPr lang="en-US" sz="1200" dirty="0"/>
          </a:p>
        </p:txBody>
      </p:sp>
      <p:sp>
        <p:nvSpPr>
          <p:cNvPr id="22" name="arrow 4"/>
          <p:cNvSpPr/>
          <p:nvPr/>
        </p:nvSpPr>
        <p:spPr>
          <a:xfrm rot="5400000">
            <a:off x="6003036" y="1741932"/>
            <a:ext cx="91440" cy="128016"/>
          </a:xfrm>
          <a:prstGeom prst="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tep 5"/>
          <p:cNvSpPr/>
          <p:nvPr/>
        </p:nvSpPr>
        <p:spPr>
          <a:xfrm>
            <a:off x="6126480" y="1097280"/>
            <a:ext cx="1261872" cy="1417320"/>
          </a:xfrm>
          <a:prstGeom prst="roundRect">
            <a:avLst>
              <a:gd name="adj" fmla="val 5797"/>
            </a:avLst>
          </a:prstGeom>
          <a:solidFill>
            <a:srgbClr val="EEF2F8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24" name="step 5 badge"/>
          <p:cNvSpPr/>
          <p:nvPr/>
        </p:nvSpPr>
        <p:spPr>
          <a:xfrm>
            <a:off x="6236208" y="1207008"/>
            <a:ext cx="292608" cy="292608"/>
          </a:xfrm>
          <a:prstGeom prst="ellipse">
            <a:avLst/>
          </a:prstGeom>
          <a:solidFill>
            <a:srgbClr val="B571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tep 5 badge number"/>
          <p:cNvSpPr txBox="1"/>
          <p:nvPr/>
        </p:nvSpPr>
        <p:spPr>
          <a:xfrm>
            <a:off x="6236208" y="1207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step 5 text"/>
          <p:cNvSpPr txBox="1"/>
          <p:nvPr/>
        </p:nvSpPr>
        <p:spPr>
          <a:xfrm>
            <a:off x="6236208" y="1572768"/>
            <a:ext cx="1060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33F"/>
                </a:solidFill>
              </a:rPr>
              <a:t>Optical density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D475A"/>
                </a:solidFill>
              </a:rPr>
              <a:t>OD of the mean grey value (Fiji)</a:t>
            </a:r>
            <a:endParaRPr lang="en-US" sz="1200" dirty="0"/>
          </a:p>
        </p:txBody>
      </p:sp>
      <p:sp>
        <p:nvSpPr>
          <p:cNvPr id="27" name="arrow 5"/>
          <p:cNvSpPr/>
          <p:nvPr/>
        </p:nvSpPr>
        <p:spPr>
          <a:xfrm rot="5400000">
            <a:off x="7420356" y="1741932"/>
            <a:ext cx="91440" cy="128016"/>
          </a:xfrm>
          <a:prstGeom prst="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step 6"/>
          <p:cNvSpPr/>
          <p:nvPr/>
        </p:nvSpPr>
        <p:spPr>
          <a:xfrm>
            <a:off x="7543800" y="1097280"/>
            <a:ext cx="1261872" cy="1417320"/>
          </a:xfrm>
          <a:prstGeom prst="roundRect">
            <a:avLst>
              <a:gd name="adj" fmla="val 5797"/>
            </a:avLst>
          </a:prstGeom>
          <a:solidFill>
            <a:srgbClr val="EEF2F8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29" name="step 6 badge"/>
          <p:cNvSpPr/>
          <p:nvPr/>
        </p:nvSpPr>
        <p:spPr>
          <a:xfrm>
            <a:off x="7653528" y="1207008"/>
            <a:ext cx="292608" cy="292608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tep 6 badge number"/>
          <p:cNvSpPr txBox="1"/>
          <p:nvPr/>
        </p:nvSpPr>
        <p:spPr>
          <a:xfrm>
            <a:off x="7653528" y="1207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1" name="step 6 text"/>
          <p:cNvSpPr txBox="1"/>
          <p:nvPr/>
        </p:nvSpPr>
        <p:spPr>
          <a:xfrm>
            <a:off x="7653528" y="1572768"/>
            <a:ext cx="1060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33F"/>
                </a:solidFill>
              </a:rPr>
              <a:t>Review &amp; export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D475A"/>
                </a:solidFill>
              </a:rPr>
              <a:t>Check, then cells.csv + summary.csv</a:t>
            </a:r>
            <a:endParaRPr lang="en-US" sz="1200" dirty="0"/>
          </a:p>
        </p:txBody>
      </p:sp>
      <p:sp>
        <p:nvSpPr>
          <p:cNvPr id="32" name="path 1"/>
          <p:cNvSpPr/>
          <p:nvPr/>
        </p:nvSpPr>
        <p:spPr>
          <a:xfrm>
            <a:off x="457200" y="274320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2F5DA8"/>
            </a:solidFill>
            <a:prstDash val="solid"/>
          </a:ln>
        </p:spPr>
      </p:sp>
      <p:sp>
        <p:nvSpPr>
          <p:cNvPr id="33" name="path 1 title"/>
          <p:cNvSpPr txBox="1"/>
          <p:nvPr/>
        </p:nvSpPr>
        <p:spPr>
          <a:xfrm>
            <a:off x="640080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DA8"/>
                </a:solidFill>
              </a:rPr>
              <a:t>Whole cell · NK (63×)</a:t>
            </a:r>
            <a:endParaRPr lang="en-US" sz="1400" dirty="0"/>
          </a:p>
        </p:txBody>
      </p:sp>
      <p:sp>
        <p:nvSpPr>
          <p:cNvPr id="34" name="path 1 marker 1"/>
          <p:cNvSpPr/>
          <p:nvPr/>
        </p:nvSpPr>
        <p:spPr>
          <a:xfrm>
            <a:off x="658368" y="3364992"/>
            <a:ext cx="82296" cy="82296"/>
          </a:xfrm>
          <a:prstGeom prst="ellipse">
            <a:avLst/>
          </a:prstGeom>
          <a:solidFill>
            <a:srgbClr val="2F5DA8"/>
          </a:solidFill>
          <a:ln w="12700">
            <a:solidFill>
              <a:srgbClr val="2F5DA8"/>
            </a:solidFill>
            <a:prstDash val="solid"/>
          </a:ln>
        </p:spPr>
      </p:sp>
      <p:sp>
        <p:nvSpPr>
          <p:cNvPr id="35" name="path 1 line 1"/>
          <p:cNvSpPr txBox="1"/>
          <p:nvPr/>
        </p:nvSpPr>
        <p:spPr>
          <a:xfrm>
            <a:off x="841248" y="32918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Cellpose on the colour image</a:t>
            </a:r>
            <a:endParaRPr lang="en-US" sz="1100" dirty="0"/>
          </a:p>
        </p:txBody>
      </p:sp>
      <p:sp>
        <p:nvSpPr>
          <p:cNvPr id="36" name="path 1 marker 2"/>
          <p:cNvSpPr/>
          <p:nvPr/>
        </p:nvSpPr>
        <p:spPr>
          <a:xfrm>
            <a:off x="658368" y="3666744"/>
            <a:ext cx="82296" cy="82296"/>
          </a:xfrm>
          <a:prstGeom prst="ellipse">
            <a:avLst/>
          </a:prstGeom>
          <a:solidFill>
            <a:srgbClr val="2F5DA8"/>
          </a:solidFill>
          <a:ln w="12700">
            <a:solidFill>
              <a:srgbClr val="2F5DA8"/>
            </a:solidFill>
            <a:prstDash val="solid"/>
          </a:ln>
        </p:spPr>
      </p:sp>
      <p:sp>
        <p:nvSpPr>
          <p:cNvPr id="37" name="path 1 line 2"/>
          <p:cNvSpPr txBox="1"/>
          <p:nvPr/>
        </p:nvSpPr>
        <p:spPr>
          <a:xfrm>
            <a:off x="841248" y="35935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Edge redrawn from total OD &gt; 0.05 (hybrid contour)</a:t>
            </a:r>
            <a:endParaRPr lang="en-US" sz="1100" dirty="0"/>
          </a:p>
        </p:txBody>
      </p:sp>
      <p:sp>
        <p:nvSpPr>
          <p:cNvPr id="38" name="path 1 marker 3"/>
          <p:cNvSpPr/>
          <p:nvPr/>
        </p:nvSpPr>
        <p:spPr>
          <a:xfrm>
            <a:off x="658368" y="3968496"/>
            <a:ext cx="82296" cy="82296"/>
          </a:xfrm>
          <a:prstGeom prst="ellipse">
            <a:avLst/>
          </a:prstGeom>
          <a:solidFill>
            <a:srgbClr val="2F5DA8"/>
          </a:solidFill>
          <a:ln w="12700">
            <a:solidFill>
              <a:srgbClr val="2F5DA8"/>
            </a:solidFill>
            <a:prstDash val="solid"/>
          </a:ln>
        </p:spPr>
      </p:sp>
      <p:sp>
        <p:nvSpPr>
          <p:cNvPr id="39" name="path 1 line 3"/>
          <p:cNvSpPr txBox="1"/>
          <p:nvPr/>
        </p:nvSpPr>
        <p:spPr>
          <a:xfrm>
            <a:off x="841248" y="38953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I₀ fields 14–40 px from the contour</a:t>
            </a:r>
            <a:endParaRPr lang="en-US" sz="1100" dirty="0"/>
          </a:p>
        </p:txBody>
      </p:sp>
      <p:sp>
        <p:nvSpPr>
          <p:cNvPr id="40" name="path 1 marker 4"/>
          <p:cNvSpPr/>
          <p:nvPr/>
        </p:nvSpPr>
        <p:spPr>
          <a:xfrm>
            <a:off x="658368" y="4270248"/>
            <a:ext cx="82296" cy="82296"/>
          </a:xfrm>
          <a:prstGeom prst="ellipse">
            <a:avLst/>
          </a:prstGeom>
          <a:solidFill>
            <a:srgbClr val="2F5DA8"/>
          </a:solidFill>
          <a:ln w="12700">
            <a:solidFill>
              <a:srgbClr val="2F5DA8"/>
            </a:solidFill>
            <a:prstDash val="solid"/>
          </a:ln>
        </p:spPr>
      </p:sp>
      <p:sp>
        <p:nvSpPr>
          <p:cNvPr id="41" name="path 1 line 4"/>
          <p:cNvSpPr txBox="1"/>
          <p:nvPr/>
        </p:nvSpPr>
        <p:spPr>
          <a:xfrm>
            <a:off x="841248" y="41970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I₀ must lie within 210–220 (method)</a:t>
            </a:r>
            <a:endParaRPr lang="en-US" sz="1100" dirty="0"/>
          </a:p>
        </p:txBody>
      </p:sp>
      <p:sp>
        <p:nvSpPr>
          <p:cNvPr id="42" name="path 2"/>
          <p:cNvSpPr/>
          <p:nvPr/>
        </p:nvSpPr>
        <p:spPr>
          <a:xfrm>
            <a:off x="4663440" y="274320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B5713A"/>
            </a:solidFill>
            <a:prstDash val="solid"/>
          </a:ln>
        </p:spPr>
      </p:sp>
      <p:sp>
        <p:nvSpPr>
          <p:cNvPr id="43" name="path 2 title"/>
          <p:cNvSpPr txBox="1"/>
          <p:nvPr/>
        </p:nvSpPr>
        <p:spPr>
          <a:xfrm>
            <a:off x="4846320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713A"/>
                </a:solidFill>
              </a:rPr>
              <a:t>Nucleus · C2C12 Ki67 (20×)</a:t>
            </a:r>
            <a:endParaRPr lang="en-US" sz="1400" dirty="0"/>
          </a:p>
        </p:txBody>
      </p:sp>
      <p:sp>
        <p:nvSpPr>
          <p:cNvPr id="44" name="path 2 marker 1"/>
          <p:cNvSpPr/>
          <p:nvPr/>
        </p:nvSpPr>
        <p:spPr>
          <a:xfrm>
            <a:off x="4864608" y="3364992"/>
            <a:ext cx="82296" cy="82296"/>
          </a:xfrm>
          <a:prstGeom prst="ellipse">
            <a:avLst/>
          </a:prstGeom>
          <a:solidFill>
            <a:srgbClr val="B5713A"/>
          </a:solidFill>
          <a:ln w="12700">
            <a:solidFill>
              <a:srgbClr val="B5713A"/>
            </a:solidFill>
            <a:prstDash val="solid"/>
          </a:ln>
        </p:spPr>
      </p:sp>
      <p:sp>
        <p:nvSpPr>
          <p:cNvPr id="45" name="path 2 line 1"/>
          <p:cNvSpPr txBox="1"/>
          <p:nvPr/>
        </p:nvSpPr>
        <p:spPr>
          <a:xfrm>
            <a:off x="5047488" y="32918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Cellpose on the DAB map (pale nuclei visible)</a:t>
            </a:r>
            <a:endParaRPr lang="en-US" sz="1100" dirty="0"/>
          </a:p>
        </p:txBody>
      </p:sp>
      <p:sp>
        <p:nvSpPr>
          <p:cNvPr id="46" name="path 2 marker 2"/>
          <p:cNvSpPr/>
          <p:nvPr/>
        </p:nvSpPr>
        <p:spPr>
          <a:xfrm>
            <a:off x="4864608" y="3666744"/>
            <a:ext cx="82296" cy="82296"/>
          </a:xfrm>
          <a:prstGeom prst="ellipse">
            <a:avLst/>
          </a:prstGeom>
          <a:solidFill>
            <a:srgbClr val="B5713A"/>
          </a:solidFill>
          <a:ln w="12700">
            <a:solidFill>
              <a:srgbClr val="B5713A"/>
            </a:solidFill>
            <a:prstDash val="solid"/>
          </a:ln>
        </p:spPr>
      </p:sp>
      <p:sp>
        <p:nvSpPr>
          <p:cNvPr id="47" name="path 2 line 2"/>
          <p:cNvSpPr txBox="1"/>
          <p:nvPr/>
        </p:nvSpPr>
        <p:spPr>
          <a:xfrm>
            <a:off x="5047488" y="35935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Min. area 500 px; debris flagged by its H channel</a:t>
            </a:r>
            <a:endParaRPr lang="en-US" sz="1100" dirty="0"/>
          </a:p>
        </p:txBody>
      </p:sp>
      <p:sp>
        <p:nvSpPr>
          <p:cNvPr id="48" name="path 2 marker 3"/>
          <p:cNvSpPr/>
          <p:nvPr/>
        </p:nvSpPr>
        <p:spPr>
          <a:xfrm>
            <a:off x="4864608" y="3968496"/>
            <a:ext cx="82296" cy="82296"/>
          </a:xfrm>
          <a:prstGeom prst="ellipse">
            <a:avLst/>
          </a:prstGeom>
          <a:solidFill>
            <a:srgbClr val="B5713A"/>
          </a:solidFill>
          <a:ln w="12700">
            <a:solidFill>
              <a:srgbClr val="B5713A"/>
            </a:solidFill>
            <a:prstDash val="solid"/>
          </a:ln>
        </p:spPr>
      </p:sp>
      <p:sp>
        <p:nvSpPr>
          <p:cNvPr id="49" name="path 2 line 3"/>
          <p:cNvSpPr txBox="1"/>
          <p:nvPr/>
        </p:nvSpPr>
        <p:spPr>
          <a:xfrm>
            <a:off x="5047488" y="38953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I₀ fields 40–90 px; ±3 % of the free background</a:t>
            </a:r>
            <a:endParaRPr lang="en-US" sz="1100" dirty="0"/>
          </a:p>
        </p:txBody>
      </p:sp>
      <p:sp>
        <p:nvSpPr>
          <p:cNvPr id="50" name="path 2 marker 4"/>
          <p:cNvSpPr/>
          <p:nvPr/>
        </p:nvSpPr>
        <p:spPr>
          <a:xfrm>
            <a:off x="4864608" y="4270248"/>
            <a:ext cx="82296" cy="82296"/>
          </a:xfrm>
          <a:prstGeom prst="ellipse">
            <a:avLst/>
          </a:prstGeom>
          <a:solidFill>
            <a:srgbClr val="B5713A"/>
          </a:solidFill>
          <a:ln w="12700">
            <a:solidFill>
              <a:srgbClr val="B5713A"/>
            </a:solidFill>
            <a:prstDash val="solid"/>
          </a:ln>
        </p:spPr>
      </p:sp>
      <p:sp>
        <p:nvSpPr>
          <p:cNvPr id="51" name="path 2 line 4"/>
          <p:cNvSpPr txBox="1"/>
          <p:nvPr/>
        </p:nvSpPr>
        <p:spPr>
          <a:xfrm>
            <a:off x="5047488" y="41970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Positive above grey OD 0.01 (noise floor)</a:t>
            </a:r>
            <a:endParaRPr lang="en-US" sz="1100" dirty="0"/>
          </a:p>
        </p:txBody>
      </p:sp>
      <p:sp>
        <p:nvSpPr>
          <p:cNvPr id="52" name="footnote"/>
          <p:cNvSpPr txBox="1"/>
          <p:nvPr/>
        </p:nvSpPr>
        <p:spPr>
          <a:xfrm>
            <a:off x="457200" y="46817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6"/>
                </a:solidFill>
              </a:rPr>
              <a:t>Step 3 and 4 differ by target; every OD uses the original image (brightness is display only).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and pilot results</a:t>
            </a:r>
            <a:endParaRPr lang="en-US" sz="2800" dirty="0"/>
          </a:p>
        </p:txBody>
      </p:sp>
      <p:sp>
        <p:nvSpPr>
          <p:cNvPr id="3" name="formula card"/>
          <p:cNvSpPr/>
          <p:nvPr/>
        </p:nvSpPr>
        <p:spPr>
          <a:xfrm>
            <a:off x="457200" y="1143000"/>
            <a:ext cx="42062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formula heading"/>
          <p:cNvSpPr txBox="1"/>
          <p:nvPr/>
        </p:nvSpPr>
        <p:spPr>
          <a:xfrm>
            <a:off x="73152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3F"/>
                </a:solidFill>
              </a:rPr>
              <a:t>Per cell, as in the Fiji method</a:t>
            </a:r>
            <a:endParaRPr lang="en-US" sz="1300" dirty="0"/>
          </a:p>
        </p:txBody>
      </p:sp>
      <p:pic>
        <p:nvPicPr>
          <p:cNvPr id="5" name="formula OD" descr="OD = minus log10 of mean grey value over I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1972909" cy="530352"/>
          </a:xfrm>
          <a:prstGeom prst="rect">
            <a:avLst/>
          </a:prstGeom>
        </p:spPr>
      </p:pic>
      <p:pic>
        <p:nvPicPr>
          <p:cNvPr id="6" name="formula I0" descr="I0 = mean of three background field mea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86584"/>
            <a:ext cx="1297534" cy="603504"/>
          </a:xfrm>
          <a:prstGeom prst="rect">
            <a:avLst/>
          </a:prstGeom>
        </p:spPr>
      </p:pic>
      <p:sp>
        <p:nvSpPr>
          <p:cNvPr id="7" name="symbols"/>
          <p:cNvSpPr txBox="1"/>
          <p:nvPr/>
        </p:nvSpPr>
        <p:spPr>
          <a:xfrm>
            <a:off x="731520" y="3081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6"/>
                </a:solidFill>
              </a:rPr>
              <a:t>Ī  mean grey value inside the contour   ·   G = (R+G+B)/3</a:t>
            </a:r>
            <a:endParaRPr lang="en-US" sz="1000" dirty="0"/>
          </a:p>
        </p:txBody>
      </p:sp>
      <p:sp>
        <p:nvSpPr>
          <p:cNvPr id="8" name="example heading"/>
          <p:cNvSpPr txBox="1"/>
          <p:nvPr/>
        </p:nvSpPr>
        <p:spPr>
          <a:xfrm>
            <a:off x="731520" y="3474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713A"/>
                </a:solidFill>
              </a:rPr>
              <a:t>Worked example · NK cell, 5515 px</a:t>
            </a:r>
            <a:endParaRPr lang="en-US" sz="1100" dirty="0"/>
          </a:p>
        </p:txBody>
      </p:sp>
      <p:sp>
        <p:nvSpPr>
          <p:cNvPr id="9" name="example values"/>
          <p:cNvSpPr txBox="1"/>
          <p:nvPr/>
        </p:nvSpPr>
        <p:spPr>
          <a:xfrm>
            <a:off x="731520" y="3749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I₀ = (217.4 + 217.0 + 217.5) / 3 = 217.3   ·   Ī = 149.0</a:t>
            </a:r>
            <a:endParaRPr lang="en-US" sz="1100" dirty="0"/>
          </a:p>
        </p:txBody>
      </p:sp>
      <p:pic>
        <p:nvPicPr>
          <p:cNvPr id="10" name="formula example" descr="minus log10 of 149.0 over 217.3 equals 0.16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32504"/>
            <a:ext cx="2050085" cy="347472"/>
          </a:xfrm>
          <a:prstGeom prst="rect">
            <a:avLst/>
          </a:prstGeom>
        </p:spPr>
      </p:pic>
      <p:sp>
        <p:nvSpPr>
          <p:cNvPr id="11" name="stat 1 number"/>
          <p:cNvSpPr txBox="1"/>
          <p:nvPr/>
        </p:nvSpPr>
        <p:spPr>
          <a:xfrm>
            <a:off x="5029200" y="11430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9FD8FF"/>
                </a:solidFill>
              </a:rPr>
              <a:t>27 vs 8</a:t>
            </a:r>
            <a:endParaRPr lang="en-US" sz="3400" dirty="0"/>
          </a:p>
        </p:txBody>
      </p:sp>
      <p:sp>
        <p:nvSpPr>
          <p:cNvPr id="12" name="stat 1 label"/>
          <p:cNvSpPr txBox="1"/>
          <p:nvPr/>
        </p:nvSpPr>
        <p:spPr>
          <a:xfrm>
            <a:off x="5029200" y="172821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nuclei found on a C2C12 pilot image – Cellpose on the DAB map vs. on the colour image</a:t>
            </a:r>
            <a:endParaRPr lang="en-US" sz="1100" dirty="0"/>
          </a:p>
        </p:txBody>
      </p:sp>
      <p:sp>
        <p:nvSpPr>
          <p:cNvPr id="13" name="stat 2 number"/>
          <p:cNvSpPr txBox="1"/>
          <p:nvPr/>
        </p:nvSpPr>
        <p:spPr>
          <a:xfrm>
            <a:off x="5029200" y="23088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9FD8FF"/>
                </a:solidFill>
              </a:rPr>
              <a:t>4 s vs 76 s</a:t>
            </a:r>
            <a:endParaRPr lang="en-US" sz="3400" dirty="0"/>
          </a:p>
        </p:txBody>
      </p:sp>
      <p:sp>
        <p:nvSpPr>
          <p:cNvPr id="14" name="stat 2 label"/>
          <p:cNvSpPr txBox="1"/>
          <p:nvPr/>
        </p:nvSpPr>
        <p:spPr>
          <a:xfrm>
            <a:off x="5029200" y="289407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Cellpose time on the NK test image with vs. without the DAB pre-filter</a:t>
            </a:r>
            <a:endParaRPr lang="en-US" sz="1100" dirty="0"/>
          </a:p>
        </p:txBody>
      </p:sp>
      <p:sp>
        <p:nvSpPr>
          <p:cNvPr id="15" name="stat 3 number"/>
          <p:cNvSpPr txBox="1"/>
          <p:nvPr/>
        </p:nvSpPr>
        <p:spPr>
          <a:xfrm>
            <a:off x="5029200" y="34747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9FD8FF"/>
                </a:solidFill>
              </a:rPr>
              <a:t>91 of 92</a:t>
            </a:r>
            <a:endParaRPr lang="en-US" sz="3400" dirty="0"/>
          </a:p>
        </p:txBody>
      </p:sp>
      <p:sp>
        <p:nvSpPr>
          <p:cNvPr id="16" name="stat 3 label"/>
          <p:cNvSpPr txBox="1"/>
          <p:nvPr/>
        </p:nvSpPr>
        <p:spPr>
          <a:xfrm>
            <a:off x="5029200" y="40599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pilot nuclei kept with the relative I₀ check (fixed 210–220 would drop whole series)</a:t>
            </a:r>
            <a:endParaRPr lang="en-US" sz="1100" dirty="0"/>
          </a:p>
        </p:txBody>
      </p:sp>
      <p:sp>
        <p:nvSpPr>
          <p:cNvPr id="17" name="open points"/>
          <p:cNvSpPr txBox="1"/>
          <p:nvPr/>
        </p:nvSpPr>
        <p:spPr>
          <a:xfrm>
            <a:off x="457200" y="464515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</a:rPr>
              <a:t>Open: the Fiji macro (Appendix E) to confirm grey conversion and field size; Ki67-negative nuclei need a counterstain or manual drawing.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4B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KReview Navy">
  <a:themeElements>
    <a:clrScheme name="NKReview Navy">
      <a:dk1>
        <a:srgbClr val="1A2233"/>
      </a:dk1>
      <a:lt1>
        <a:srgbClr val="FFFFFF"/>
      </a:lt1>
      <a:dk2>
        <a:srgbClr val="14233F"/>
      </a:dk2>
      <a:lt2>
        <a:srgbClr val="EEF2F8"/>
      </a:lt2>
      <a:accent1>
        <a:srgbClr val="1E2761"/>
      </a:accent1>
      <a:accent2>
        <a:srgbClr val="B5713A"/>
      </a:accent2>
      <a:accent3>
        <a:srgbClr val="2F5DA8"/>
      </a:accent3>
      <a:accent4>
        <a:srgbClr val="9FD8FF"/>
      </a:accent4>
      <a:accent5>
        <a:srgbClr val="F4C772"/>
      </a:accent5>
      <a:accent6>
        <a:srgbClr val="1B7A4D"/>
      </a:accent6>
      <a:hlink>
        <a:srgbClr val="2F5DA8"/>
      </a:hlink>
      <a:folHlink>
        <a:srgbClr val="5B6476"/>
      </a:folHlink>
    </a:clrScheme>
    <a:fontScheme name="NKReview Nav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NKReview – app structure and how it works</dc:title>
  <dc:subject>PptxGenJS Presentation</dc:subject>
  <dc:creator>Finn Dreisigacker</dc:creator>
  <cp:lastModifiedBy>Finn Dreisigacker</cp:lastModifiedBy>
  <cp:revision>1</cp:revision>
  <dcterms:created xsi:type="dcterms:W3CDTF">2026-10-13T12:55:35Z</dcterms:created>
  <dcterms:modified xsi:type="dcterms:W3CDTF">2026-10-13T12:55:35Z</dcterms:modified>
</cp:coreProperties>
</file>